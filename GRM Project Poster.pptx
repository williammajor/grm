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6" r:id="rId4"/>
  </p:sldIdLst>
  <p:sldSz cx="43891200" cy="32918400"/>
  <p:notesSz cx="6858000" cy="9144000"/>
  <p:defaultTextStyle>
    <a:defPPr>
      <a:defRPr lang="en-US"/>
    </a:defPPr>
    <a:lvl1pPr algn="l" rtl="0" fontAlgn="base">
      <a:spcBef>
        <a:spcPct val="0"/>
      </a:spcBef>
      <a:spcAft>
        <a:spcPct val="0"/>
      </a:spcAft>
      <a:defRPr sz="2880" kern="1200">
        <a:solidFill>
          <a:schemeClr val="tx1"/>
        </a:solidFill>
        <a:latin typeface="Arial Narrow" pitchFamily="34" charset="0"/>
        <a:ea typeface="+mn-ea"/>
        <a:cs typeface="Arial" charset="0"/>
      </a:defRPr>
    </a:lvl1pPr>
    <a:lvl2pPr marL="455273" indent="93341" algn="l" rtl="0" fontAlgn="base">
      <a:spcBef>
        <a:spcPct val="0"/>
      </a:spcBef>
      <a:spcAft>
        <a:spcPct val="0"/>
      </a:spcAft>
      <a:defRPr sz="2880" kern="1200">
        <a:solidFill>
          <a:schemeClr val="tx1"/>
        </a:solidFill>
        <a:latin typeface="Arial Narrow" pitchFamily="34" charset="0"/>
        <a:ea typeface="+mn-ea"/>
        <a:cs typeface="Arial" charset="0"/>
      </a:defRPr>
    </a:lvl2pPr>
    <a:lvl3pPr marL="912450" indent="184776" algn="l" rtl="0" fontAlgn="base">
      <a:spcBef>
        <a:spcPct val="0"/>
      </a:spcBef>
      <a:spcAft>
        <a:spcPct val="0"/>
      </a:spcAft>
      <a:defRPr sz="2880" kern="1200">
        <a:solidFill>
          <a:schemeClr val="tx1"/>
        </a:solidFill>
        <a:latin typeface="Arial Narrow" pitchFamily="34" charset="0"/>
        <a:ea typeface="+mn-ea"/>
        <a:cs typeface="Arial" charset="0"/>
      </a:defRPr>
    </a:lvl3pPr>
    <a:lvl4pPr marL="1369627" indent="276212" algn="l" rtl="0" fontAlgn="base">
      <a:spcBef>
        <a:spcPct val="0"/>
      </a:spcBef>
      <a:spcAft>
        <a:spcPct val="0"/>
      </a:spcAft>
      <a:defRPr sz="2880" kern="1200">
        <a:solidFill>
          <a:schemeClr val="tx1"/>
        </a:solidFill>
        <a:latin typeface="Arial Narrow" pitchFamily="34" charset="0"/>
        <a:ea typeface="+mn-ea"/>
        <a:cs typeface="Arial" charset="0"/>
      </a:defRPr>
    </a:lvl4pPr>
    <a:lvl5pPr marL="1826804" indent="367647" algn="l" rtl="0" fontAlgn="base">
      <a:spcBef>
        <a:spcPct val="0"/>
      </a:spcBef>
      <a:spcAft>
        <a:spcPct val="0"/>
      </a:spcAft>
      <a:defRPr sz="2880" kern="1200">
        <a:solidFill>
          <a:schemeClr val="tx1"/>
        </a:solidFill>
        <a:latin typeface="Arial Narrow" pitchFamily="34" charset="0"/>
        <a:ea typeface="+mn-ea"/>
        <a:cs typeface="Arial" charset="0"/>
      </a:defRPr>
    </a:lvl5pPr>
    <a:lvl6pPr marL="2743063" algn="l" defTabSz="1097225" rtl="0" eaLnBrk="1" latinLnBrk="0" hangingPunct="1">
      <a:defRPr sz="2880" kern="1200">
        <a:solidFill>
          <a:schemeClr val="tx1"/>
        </a:solidFill>
        <a:latin typeface="Arial Narrow" pitchFamily="34" charset="0"/>
        <a:ea typeface="+mn-ea"/>
        <a:cs typeface="Arial" charset="0"/>
      </a:defRPr>
    </a:lvl6pPr>
    <a:lvl7pPr marL="3291676" algn="l" defTabSz="1097225" rtl="0" eaLnBrk="1" latinLnBrk="0" hangingPunct="1">
      <a:defRPr sz="2880" kern="1200">
        <a:solidFill>
          <a:schemeClr val="tx1"/>
        </a:solidFill>
        <a:latin typeface="Arial Narrow" pitchFamily="34" charset="0"/>
        <a:ea typeface="+mn-ea"/>
        <a:cs typeface="Arial" charset="0"/>
      </a:defRPr>
    </a:lvl7pPr>
    <a:lvl8pPr marL="3840288" algn="l" defTabSz="1097225" rtl="0" eaLnBrk="1" latinLnBrk="0" hangingPunct="1">
      <a:defRPr sz="2880" kern="1200">
        <a:solidFill>
          <a:schemeClr val="tx1"/>
        </a:solidFill>
        <a:latin typeface="Arial Narrow" pitchFamily="34" charset="0"/>
        <a:ea typeface="+mn-ea"/>
        <a:cs typeface="Arial" charset="0"/>
      </a:defRPr>
    </a:lvl8pPr>
    <a:lvl9pPr marL="4388901" algn="l" defTabSz="1097225" rtl="0" eaLnBrk="1" latinLnBrk="0" hangingPunct="1">
      <a:defRPr sz="2880" kern="1200">
        <a:solidFill>
          <a:schemeClr val="tx1"/>
        </a:solidFill>
        <a:latin typeface="Arial Narrow" pitchFamily="34" charset="0"/>
        <a:ea typeface="+mn-ea"/>
        <a:cs typeface="Arial" charset="0"/>
      </a:defRPr>
    </a:lvl9pPr>
  </p:defaultTextStyle>
  <p:extLst>
    <p:ext uri="{EFAFB233-063F-42B5-8137-9DF3F51BA10A}">
      <p15:sldGuideLst xmlns:p15="http://schemas.microsoft.com/office/powerpoint/2012/main">
        <p15:guide id="1" orient="horz" pos="3552" userDrawn="1">
          <p15:clr>
            <a:srgbClr val="A4A3A4"/>
          </p15:clr>
        </p15:guide>
        <p15:guide id="2" orient="horz" pos="20285" userDrawn="1">
          <p15:clr>
            <a:srgbClr val="A4A3A4"/>
          </p15:clr>
        </p15:guide>
        <p15:guide id="3" pos="437" userDrawn="1">
          <p15:clr>
            <a:srgbClr val="A4A3A4"/>
          </p15:clr>
        </p15:guide>
        <p15:guide id="4" pos="6725" userDrawn="1">
          <p15:clr>
            <a:srgbClr val="A4A3A4"/>
          </p15:clr>
        </p15:guide>
        <p15:guide id="5" pos="7239" userDrawn="1">
          <p15:clr>
            <a:srgbClr val="A4A3A4"/>
          </p15:clr>
        </p15:guide>
        <p15:guide id="6" pos="13527" userDrawn="1">
          <p15:clr>
            <a:srgbClr val="A4A3A4"/>
          </p15:clr>
        </p15:guide>
        <p15:guide id="7" pos="14031" userDrawn="1">
          <p15:clr>
            <a:srgbClr val="A4A3A4"/>
          </p15:clr>
        </p15:guide>
        <p15:guide id="8" pos="20319" userDrawn="1">
          <p15:clr>
            <a:srgbClr val="A4A3A4"/>
          </p15:clr>
        </p15:guide>
        <p15:guide id="9" pos="20837" userDrawn="1">
          <p15:clr>
            <a:srgbClr val="A4A3A4"/>
          </p15:clr>
        </p15:guide>
        <p15:guide id="10" pos="271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 Harkey" initials="DH" lastIdx="3" clrIdx="0">
    <p:extLst>
      <p:ext uri="{19B8F6BF-5375-455C-9EA6-DF929625EA0E}">
        <p15:presenceInfo xmlns:p15="http://schemas.microsoft.com/office/powerpoint/2012/main" userId="Dan Harke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66FF"/>
    <a:srgbClr val="FF9900"/>
    <a:srgbClr val="CC0000"/>
    <a:srgbClr val="993300"/>
    <a:srgbClr val="009900"/>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170" autoAdjust="0"/>
    <p:restoredTop sz="95368" autoAdjust="0"/>
  </p:normalViewPr>
  <p:slideViewPr>
    <p:cSldViewPr snapToGrid="0" snapToObjects="1">
      <p:cViewPr>
        <p:scale>
          <a:sx n="50" d="100"/>
          <a:sy n="50" d="100"/>
        </p:scale>
        <p:origin x="-4596" y="-3594"/>
      </p:cViewPr>
      <p:guideLst>
        <p:guide orient="horz" pos="3552"/>
        <p:guide orient="horz" pos="20285"/>
        <p:guide pos="437"/>
        <p:guide pos="6725"/>
        <p:guide pos="7239"/>
        <p:guide pos="13527"/>
        <p:guide pos="14031"/>
        <p:guide pos="20319"/>
        <p:guide pos="20837"/>
        <p:guide pos="27125"/>
      </p:guideLst>
    </p:cSldViewPr>
  </p:slideViewPr>
  <p:outlineViewPr>
    <p:cViewPr>
      <p:scale>
        <a:sx n="33" d="100"/>
        <a:sy n="33" d="100"/>
      </p:scale>
      <p:origin x="0" y="0"/>
    </p:cViewPr>
  </p:outlineViewPr>
  <p:notesTextViewPr>
    <p:cViewPr>
      <p:scale>
        <a:sx n="66" d="100"/>
        <a:sy n="66" d="100"/>
      </p:scale>
      <p:origin x="0" y="0"/>
    </p:cViewPr>
  </p:notesTextViewPr>
  <p:sorterViewPr>
    <p:cViewPr>
      <p:scale>
        <a:sx n="66" d="100"/>
        <a:sy n="66" d="100"/>
      </p:scale>
      <p:origin x="0" y="21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4-04T13:46:25.858" idx="1">
    <p:pos x="17088" y="411"/>
    <p:text>Use multiple lines for title if necessary</p:text>
    <p:extLst>
      <p:ext uri="{C676402C-5697-4E1C-873F-D02D1690AC5C}">
        <p15:threadingInfo xmlns:p15="http://schemas.microsoft.com/office/powerpoint/2012/main" timeZoneBias="420"/>
      </p:ext>
    </p:extLst>
  </p:cm>
  <p:cm authorId="1" dt="2018-04-04T13:47:06.935" idx="2">
    <p:pos x="26962" y="411"/>
    <p:text>Break degree into a second line if name is too long. Still too long? Reduce font size for all names.</p:text>
    <p:extLst>
      <p:ext uri="{C676402C-5697-4E1C-873F-D02D1690AC5C}">
        <p15:threadingInfo xmlns:p15="http://schemas.microsoft.com/office/powerpoint/2012/main" timeZoneBias="420"/>
      </p:ext>
    </p:extLst>
  </p:cm>
  <p:cm authorId="1" dt="2018-04-04T14:12:02.891" idx="3">
    <p:pos x="6720" y="3563"/>
    <p:text>Content should flow across the four columns.  Gutters at 12" from the left and right edges must be maintained for the poster folds.</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150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0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150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mn-cs"/>
              </a:defRPr>
            </a:lvl1pPr>
          </a:lstStyle>
          <a:p>
            <a:pPr>
              <a:defRPr/>
            </a:pPr>
            <a:fld id="{872BC18A-C5D3-45AC-94DD-D3D25D5ADCCF}" type="slidenum">
              <a:rPr lang="en-US"/>
              <a:pPr>
                <a:defRPr/>
              </a:pPr>
              <a:t>‹#›</a:t>
            </a:fld>
            <a:endParaRPr lang="en-US"/>
          </a:p>
        </p:txBody>
      </p:sp>
    </p:spTree>
    <p:extLst>
      <p:ext uri="{BB962C8B-B14F-4D97-AF65-F5344CB8AC3E}">
        <p14:creationId xmlns:p14="http://schemas.microsoft.com/office/powerpoint/2010/main" val="41036281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273" algn="l" rtl="0" eaLnBrk="0" fontAlgn="base" hangingPunct="0">
      <a:spcBef>
        <a:spcPct val="30000"/>
      </a:spcBef>
      <a:spcAft>
        <a:spcPct val="0"/>
      </a:spcAft>
      <a:defRPr sz="1200" kern="1200">
        <a:solidFill>
          <a:schemeClr val="tx1"/>
        </a:solidFill>
        <a:latin typeface="Arial" charset="0"/>
        <a:ea typeface="+mn-ea"/>
        <a:cs typeface="+mn-cs"/>
      </a:defRPr>
    </a:lvl2pPr>
    <a:lvl3pPr marL="912450" algn="l" rtl="0" eaLnBrk="0" fontAlgn="base" hangingPunct="0">
      <a:spcBef>
        <a:spcPct val="30000"/>
      </a:spcBef>
      <a:spcAft>
        <a:spcPct val="0"/>
      </a:spcAft>
      <a:defRPr sz="1200" kern="1200">
        <a:solidFill>
          <a:schemeClr val="tx1"/>
        </a:solidFill>
        <a:latin typeface="Arial" charset="0"/>
        <a:ea typeface="+mn-ea"/>
        <a:cs typeface="+mn-cs"/>
      </a:defRPr>
    </a:lvl3pPr>
    <a:lvl4pPr marL="1369627" algn="l" rtl="0" eaLnBrk="0" fontAlgn="base" hangingPunct="0">
      <a:spcBef>
        <a:spcPct val="30000"/>
      </a:spcBef>
      <a:spcAft>
        <a:spcPct val="0"/>
      </a:spcAft>
      <a:defRPr sz="1200" kern="1200">
        <a:solidFill>
          <a:schemeClr val="tx1"/>
        </a:solidFill>
        <a:latin typeface="Arial" charset="0"/>
        <a:ea typeface="+mn-ea"/>
        <a:cs typeface="+mn-cs"/>
      </a:defRPr>
    </a:lvl4pPr>
    <a:lvl5pPr marL="1826804" algn="l" rtl="0" eaLnBrk="0" fontAlgn="base" hangingPunct="0">
      <a:spcBef>
        <a:spcPct val="30000"/>
      </a:spcBef>
      <a:spcAft>
        <a:spcPct val="0"/>
      </a:spcAft>
      <a:defRPr sz="1200" kern="1200">
        <a:solidFill>
          <a:schemeClr val="tx1"/>
        </a:solidFill>
        <a:latin typeface="Arial" charset="0"/>
        <a:ea typeface="+mn-ea"/>
        <a:cs typeface="+mn-cs"/>
      </a:defRPr>
    </a:lvl5pPr>
    <a:lvl6pPr marL="2285794" algn="l" defTabSz="914318" rtl="0" eaLnBrk="1" latinLnBrk="0" hangingPunct="1">
      <a:defRPr sz="1200" kern="1200">
        <a:solidFill>
          <a:schemeClr val="tx1"/>
        </a:solidFill>
        <a:latin typeface="+mn-lt"/>
        <a:ea typeface="+mn-ea"/>
        <a:cs typeface="+mn-cs"/>
      </a:defRPr>
    </a:lvl6pPr>
    <a:lvl7pPr marL="2742954" algn="l" defTabSz="914318" rtl="0" eaLnBrk="1" latinLnBrk="0" hangingPunct="1">
      <a:defRPr sz="1200" kern="1200">
        <a:solidFill>
          <a:schemeClr val="tx1"/>
        </a:solidFill>
        <a:latin typeface="+mn-lt"/>
        <a:ea typeface="+mn-ea"/>
        <a:cs typeface="+mn-cs"/>
      </a:defRPr>
    </a:lvl7pPr>
    <a:lvl8pPr marL="3200112" algn="l" defTabSz="914318" rtl="0" eaLnBrk="1" latinLnBrk="0" hangingPunct="1">
      <a:defRPr sz="1200" kern="1200">
        <a:solidFill>
          <a:schemeClr val="tx1"/>
        </a:solidFill>
        <a:latin typeface="+mn-lt"/>
        <a:ea typeface="+mn-ea"/>
        <a:cs typeface="+mn-cs"/>
      </a:defRPr>
    </a:lvl8pPr>
    <a:lvl9pPr marL="3657270" algn="l" defTabSz="91431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p:txBody>
          <a:bodyPr/>
          <a:lstStyle/>
          <a:p>
            <a:pPr>
              <a:defRPr/>
            </a:pPr>
            <a:fld id="{836A3E11-B4C1-4EA7-8D14-2B02FE8FF53A}" type="slidenum">
              <a:rPr lang="en-US" smtClean="0"/>
              <a:pPr>
                <a:defRPr/>
              </a:pPr>
              <a:t>1</a:t>
            </a:fld>
            <a:endParaRPr lang="en-US"/>
          </a:p>
        </p:txBody>
      </p:sp>
      <p:sp>
        <p:nvSpPr>
          <p:cNvPr id="6147" name="Rectangle 2"/>
          <p:cNvSpPr>
            <a:spLocks noGrp="1" noRot="1" noChangeAspect="1" noChangeArrowheads="1" noTextEdit="1"/>
          </p:cNvSpPr>
          <p:nvPr>
            <p:ph type="sldImg"/>
          </p:nvPr>
        </p:nvSpPr>
        <p:spPr>
          <a:xfrm>
            <a:off x="1143000" y="685800"/>
            <a:ext cx="4572000" cy="3429000"/>
          </a:xfrm>
          <a:ln/>
        </p:spPr>
      </p:sp>
      <p:sp>
        <p:nvSpPr>
          <p:cNvPr id="6148"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075986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42" y="5638802"/>
            <a:ext cx="21018500"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864641" y="5638802"/>
            <a:ext cx="2102008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6052" name="Rectangle 36"/>
          <p:cNvSpPr>
            <a:spLocks noChangeArrowheads="1"/>
          </p:cNvSpPr>
          <p:nvPr/>
        </p:nvSpPr>
        <p:spPr bwMode="auto">
          <a:xfrm>
            <a:off x="0" y="0"/>
            <a:ext cx="43891200" cy="4800600"/>
          </a:xfrm>
          <a:prstGeom prst="rect">
            <a:avLst/>
          </a:prstGeom>
          <a:solidFill>
            <a:schemeClr val="accent2"/>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49" name="Rectangle 33"/>
          <p:cNvSpPr>
            <a:spLocks noChangeArrowheads="1"/>
          </p:cNvSpPr>
          <p:nvPr/>
        </p:nvSpPr>
        <p:spPr bwMode="auto">
          <a:xfrm>
            <a:off x="693421" y="5638800"/>
            <a:ext cx="997458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25" name="Rectangle 9"/>
          <p:cNvSpPr>
            <a:spLocks noChangeArrowheads="1"/>
          </p:cNvSpPr>
          <p:nvPr/>
        </p:nvSpPr>
        <p:spPr bwMode="auto">
          <a:xfrm>
            <a:off x="0" y="4800600"/>
            <a:ext cx="43891200" cy="129540"/>
          </a:xfrm>
          <a:prstGeom prst="rect">
            <a:avLst/>
          </a:prstGeom>
          <a:solidFill>
            <a:srgbClr val="660000"/>
          </a:solidFill>
          <a:ln w="152400">
            <a:solidFill>
              <a:srgbClr val="FF9900"/>
            </a:solidFill>
            <a:miter lim="800000"/>
            <a:headEnd/>
            <a:tailEnd/>
          </a:ln>
          <a:effectLst/>
        </p:spPr>
        <p:txBody>
          <a:bodyPr wrap="none" lIns="81277" tIns="40637" rIns="81277" bIns="40637" anchor="ctr"/>
          <a:lstStyle/>
          <a:p>
            <a:pPr>
              <a:defRPr/>
            </a:pPr>
            <a:endParaRPr lang="en-US" sz="2195">
              <a:cs typeface="+mn-cs"/>
            </a:endParaRPr>
          </a:p>
        </p:txBody>
      </p:sp>
      <p:sp>
        <p:nvSpPr>
          <p:cNvPr id="86030" name="Text Box 14"/>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TEMPLATE DESIGN © 2008</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1030" name="Rectangle 15"/>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1031" name="Rectangle 16"/>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86041" name="Rectangle 25"/>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86048" name="Rectangle 32"/>
          <p:cNvSpPr>
            <a:spLocks noChangeArrowheads="1"/>
          </p:cNvSpPr>
          <p:nvPr/>
        </p:nvSpPr>
        <p:spPr bwMode="auto">
          <a:xfrm>
            <a:off x="1149096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50" name="Rectangle 34"/>
          <p:cNvSpPr>
            <a:spLocks noChangeArrowheads="1"/>
          </p:cNvSpPr>
          <p:nvPr/>
        </p:nvSpPr>
        <p:spPr bwMode="auto">
          <a:xfrm>
            <a:off x="2227326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51" name="Rectangle 35"/>
          <p:cNvSpPr>
            <a:spLocks noChangeArrowheads="1"/>
          </p:cNvSpPr>
          <p:nvPr/>
        </p:nvSpPr>
        <p:spPr bwMode="auto">
          <a:xfrm>
            <a:off x="3307842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7680">
          <a:solidFill>
            <a:srgbClr val="FFFFFF"/>
          </a:solidFill>
          <a:latin typeface="+mj-lt"/>
          <a:ea typeface="+mj-ea"/>
          <a:cs typeface="+mj-cs"/>
        </a:defRPr>
      </a:lvl1pPr>
      <a:lvl2pPr algn="ctr" rtl="0" eaLnBrk="0" fontAlgn="base" hangingPunct="0">
        <a:spcBef>
          <a:spcPct val="0"/>
        </a:spcBef>
        <a:spcAft>
          <a:spcPct val="0"/>
        </a:spcAft>
        <a:defRPr sz="7680">
          <a:solidFill>
            <a:srgbClr val="FFFFFF"/>
          </a:solidFill>
          <a:latin typeface="Arial Black" pitchFamily="34" charset="0"/>
        </a:defRPr>
      </a:lvl2pPr>
      <a:lvl3pPr algn="ctr" rtl="0" eaLnBrk="0" fontAlgn="base" hangingPunct="0">
        <a:spcBef>
          <a:spcPct val="0"/>
        </a:spcBef>
        <a:spcAft>
          <a:spcPct val="0"/>
        </a:spcAft>
        <a:defRPr sz="7680">
          <a:solidFill>
            <a:srgbClr val="FFFFFF"/>
          </a:solidFill>
          <a:latin typeface="Arial Black" pitchFamily="34" charset="0"/>
        </a:defRPr>
      </a:lvl3pPr>
      <a:lvl4pPr algn="ctr" rtl="0" eaLnBrk="0" fontAlgn="base" hangingPunct="0">
        <a:spcBef>
          <a:spcPct val="0"/>
        </a:spcBef>
        <a:spcAft>
          <a:spcPct val="0"/>
        </a:spcAft>
        <a:defRPr sz="7680">
          <a:solidFill>
            <a:srgbClr val="FFFFFF"/>
          </a:solidFill>
          <a:latin typeface="Arial Black" pitchFamily="34" charset="0"/>
        </a:defRPr>
      </a:lvl4pPr>
      <a:lvl5pPr algn="ctr" rtl="0" eaLnBrk="0" fontAlgn="base" hangingPunct="0">
        <a:spcBef>
          <a:spcPct val="0"/>
        </a:spcBef>
        <a:spcAft>
          <a:spcPct val="0"/>
        </a:spcAft>
        <a:defRPr sz="7680">
          <a:solidFill>
            <a:srgbClr val="FFFFFF"/>
          </a:solidFill>
          <a:latin typeface="Arial Black" pitchFamily="34" charset="0"/>
        </a:defRPr>
      </a:lvl5pPr>
      <a:lvl6pPr marL="406374" algn="ctr" rtl="0" fontAlgn="base">
        <a:spcBef>
          <a:spcPct val="0"/>
        </a:spcBef>
        <a:spcAft>
          <a:spcPct val="0"/>
        </a:spcAft>
        <a:defRPr sz="7680">
          <a:solidFill>
            <a:srgbClr val="FFFFFF"/>
          </a:solidFill>
          <a:latin typeface="Arial Black" pitchFamily="34" charset="0"/>
        </a:defRPr>
      </a:lvl6pPr>
      <a:lvl7pPr marL="812748" algn="ctr" rtl="0" fontAlgn="base">
        <a:spcBef>
          <a:spcPct val="0"/>
        </a:spcBef>
        <a:spcAft>
          <a:spcPct val="0"/>
        </a:spcAft>
        <a:defRPr sz="7680">
          <a:solidFill>
            <a:srgbClr val="FFFFFF"/>
          </a:solidFill>
          <a:latin typeface="Arial Black" pitchFamily="34" charset="0"/>
        </a:defRPr>
      </a:lvl7pPr>
      <a:lvl8pPr marL="1219120" algn="ctr" rtl="0" fontAlgn="base">
        <a:spcBef>
          <a:spcPct val="0"/>
        </a:spcBef>
        <a:spcAft>
          <a:spcPct val="0"/>
        </a:spcAft>
        <a:defRPr sz="7680">
          <a:solidFill>
            <a:srgbClr val="FFFFFF"/>
          </a:solidFill>
          <a:latin typeface="Arial Black" pitchFamily="34" charset="0"/>
        </a:defRPr>
      </a:lvl8pPr>
      <a:lvl9pPr marL="1625494" algn="ctr" rtl="0" fontAlgn="base">
        <a:spcBef>
          <a:spcPct val="0"/>
        </a:spcBef>
        <a:spcAft>
          <a:spcPct val="0"/>
        </a:spcAft>
        <a:defRPr sz="7680">
          <a:solidFill>
            <a:srgbClr val="FFFFFF"/>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7" name="Rectangle 3"/>
          <p:cNvSpPr>
            <a:spLocks noChangeArrowheads="1"/>
          </p:cNvSpPr>
          <p:nvPr/>
        </p:nvSpPr>
        <p:spPr bwMode="auto">
          <a:xfrm>
            <a:off x="693421" y="5638800"/>
            <a:ext cx="997458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8"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0229"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2054"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2055" name="Rectangle 7"/>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0232"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180233" name="Rectangle 9"/>
          <p:cNvSpPr>
            <a:spLocks noChangeArrowheads="1"/>
          </p:cNvSpPr>
          <p:nvPr/>
        </p:nvSpPr>
        <p:spPr bwMode="auto">
          <a:xfrm>
            <a:off x="11490961" y="5638800"/>
            <a:ext cx="207645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35" name="Rectangle 11"/>
          <p:cNvSpPr>
            <a:spLocks noChangeArrowheads="1"/>
          </p:cNvSpPr>
          <p:nvPr/>
        </p:nvSpPr>
        <p:spPr bwMode="auto">
          <a:xfrm>
            <a:off x="33078420" y="5638800"/>
            <a:ext cx="9982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1" name="Rectangle 3"/>
          <p:cNvSpPr>
            <a:spLocks noChangeArrowheads="1"/>
          </p:cNvSpPr>
          <p:nvPr/>
        </p:nvSpPr>
        <p:spPr bwMode="auto">
          <a:xfrm>
            <a:off x="693420" y="5638800"/>
            <a:ext cx="42367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2"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1253"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3078"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3079" name="Rectangle 7"/>
          <p:cNvSpPr>
            <a:spLocks noGrp="1" noChangeArrowheads="1"/>
          </p:cNvSpPr>
          <p:nvPr>
            <p:ph type="body" idx="1"/>
          </p:nvPr>
        </p:nvSpPr>
        <p:spPr bwMode="auto">
          <a:xfrm>
            <a:off x="693421" y="5638800"/>
            <a:ext cx="4219194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1256"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g"/><Relationship Id="rId3" Type="http://schemas.openxmlformats.org/officeDocument/2006/relationships/image" Target="../media/image1.png"/><Relationship Id="rId7" Type="http://schemas.openxmlformats.org/officeDocument/2006/relationships/image" Target="../media/image5.jp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11" Type="http://schemas.openxmlformats.org/officeDocument/2006/relationships/image" Target="../media/image9.jpg"/><Relationship Id="rId5" Type="http://schemas.openxmlformats.org/officeDocument/2006/relationships/image" Target="../media/image3.jpeg"/><Relationship Id="rId15" Type="http://schemas.openxmlformats.org/officeDocument/2006/relationships/comments" Target="../comments/comment1.xml"/><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5"/>
          <p:cNvSpPr>
            <a:spLocks noChangeArrowheads="1"/>
          </p:cNvSpPr>
          <p:nvPr/>
        </p:nvSpPr>
        <p:spPr bwMode="auto">
          <a:xfrm>
            <a:off x="11510433" y="674666"/>
            <a:ext cx="20747567" cy="3184268"/>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7680" b="1" dirty="0">
                <a:solidFill>
                  <a:srgbClr val="FFFFFF"/>
                </a:solidFill>
                <a:latin typeface="Arial" charset="0"/>
                <a:cs typeface="+mn-cs"/>
              </a:rPr>
              <a:t>Project 19: GPS-Guided RFID Moisture Sensing Robot</a:t>
            </a:r>
          </a:p>
          <a:p>
            <a:pPr algn="ctr" eaLnBrk="0" hangingPunct="0">
              <a:defRPr/>
            </a:pPr>
            <a:r>
              <a:rPr lang="en-US" sz="4800" b="1" dirty="0">
                <a:solidFill>
                  <a:srgbClr val="FFFFFF"/>
                </a:solidFill>
                <a:latin typeface="Arial" charset="0"/>
              </a:rPr>
              <a:t>Project Advisor: Donald Hung</a:t>
            </a:r>
          </a:p>
        </p:txBody>
      </p:sp>
      <p:sp>
        <p:nvSpPr>
          <p:cNvPr id="4099" name="Text Box 7"/>
          <p:cNvSpPr txBox="1">
            <a:spLocks noChangeArrowheads="1"/>
          </p:cNvSpPr>
          <p:nvPr/>
        </p:nvSpPr>
        <p:spPr bwMode="auto">
          <a:xfrm>
            <a:off x="698501" y="5656121"/>
            <a:ext cx="99695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Introduction</a:t>
            </a:r>
          </a:p>
        </p:txBody>
      </p:sp>
      <p:sp>
        <p:nvSpPr>
          <p:cNvPr id="4100" name="Text Box 14"/>
          <p:cNvSpPr txBox="1">
            <a:spLocks noChangeArrowheads="1"/>
          </p:cNvSpPr>
          <p:nvPr/>
        </p:nvSpPr>
        <p:spPr bwMode="auto">
          <a:xfrm>
            <a:off x="1378373" y="6485934"/>
            <a:ext cx="8873067" cy="6299128"/>
          </a:xfrm>
          <a:prstGeom prst="rect">
            <a:avLst/>
          </a:prstGeom>
          <a:noFill/>
          <a:ln w="9525">
            <a:noFill/>
            <a:miter lim="800000"/>
            <a:headEnd/>
            <a:tailEnd/>
          </a:ln>
        </p:spPr>
        <p:txBody>
          <a:bodyPr wrap="square" lIns="406384" tIns="406384" rIns="406384" bIns="406384">
            <a:spAutoFit/>
          </a:bodyPr>
          <a:lstStyle/>
          <a:p>
            <a:r>
              <a:rPr lang="en-US" sz="2400" dirty="0"/>
              <a:t>The project handles issues related to moisture buildup on industrial and</a:t>
            </a:r>
          </a:p>
          <a:p>
            <a:r>
              <a:rPr lang="en-US" sz="2400" dirty="0"/>
              <a:t>commercial building rooftops. Trapped moisture often damages these types of buildings and is extremely expensive for business owners to deal with. This is because industrial and commercial rooftops tend to be flat, unlike residential roofs, which are designed to have rain slip off onto the ground. The buildings our project is designed for are too wide, so creating an angled roof would be impractical and expensive due to the extra building material required.</a:t>
            </a:r>
          </a:p>
          <a:p>
            <a:endParaRPr lang="en-US" sz="2400" dirty="0"/>
          </a:p>
          <a:p>
            <a:r>
              <a:rPr lang="en-US" sz="2400" dirty="0"/>
              <a:t>Oftentimes, moisture isn’t detectable from the surface of the tile. Traditional methods of measuring this moisture require drilling into the tile, which obviously causes damage and potential for future problems. Additionally, multiple samples are required in order to accurately measure the moisture damage of a roof. </a:t>
            </a:r>
          </a:p>
          <a:p>
            <a:endParaRPr lang="en-US" sz="2000" dirty="0"/>
          </a:p>
        </p:txBody>
      </p:sp>
      <p:sp>
        <p:nvSpPr>
          <p:cNvPr id="4101" name="Text Box 388"/>
          <p:cNvSpPr txBox="1">
            <a:spLocks noChangeArrowheads="1"/>
          </p:cNvSpPr>
          <p:nvPr/>
        </p:nvSpPr>
        <p:spPr bwMode="auto">
          <a:xfrm>
            <a:off x="698501" y="20599739"/>
            <a:ext cx="99695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Methodology</a:t>
            </a:r>
          </a:p>
        </p:txBody>
      </p:sp>
      <p:sp>
        <p:nvSpPr>
          <p:cNvPr id="4102" name="Text Box 405"/>
          <p:cNvSpPr txBox="1">
            <a:spLocks noChangeArrowheads="1"/>
          </p:cNvSpPr>
          <p:nvPr/>
        </p:nvSpPr>
        <p:spPr bwMode="auto">
          <a:xfrm>
            <a:off x="22239873" y="17593624"/>
            <a:ext cx="99822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Analysis and Results</a:t>
            </a:r>
          </a:p>
        </p:txBody>
      </p:sp>
      <p:sp>
        <p:nvSpPr>
          <p:cNvPr id="4103" name="Text Box 478"/>
          <p:cNvSpPr txBox="1">
            <a:spLocks noChangeArrowheads="1"/>
          </p:cNvSpPr>
          <p:nvPr/>
        </p:nvSpPr>
        <p:spPr bwMode="auto">
          <a:xfrm>
            <a:off x="33102978" y="5636232"/>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Summary/Conclusions</a:t>
            </a:r>
          </a:p>
        </p:txBody>
      </p:sp>
      <p:sp>
        <p:nvSpPr>
          <p:cNvPr id="4104" name="Text Box 479"/>
          <p:cNvSpPr txBox="1">
            <a:spLocks noChangeArrowheads="1"/>
          </p:cNvSpPr>
          <p:nvPr/>
        </p:nvSpPr>
        <p:spPr bwMode="auto">
          <a:xfrm>
            <a:off x="33057845" y="16449464"/>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a:solidFill>
                  <a:srgbClr val="F8F8F8"/>
                </a:solidFill>
              </a:rPr>
              <a:t>Key References</a:t>
            </a:r>
          </a:p>
        </p:txBody>
      </p:sp>
      <p:sp>
        <p:nvSpPr>
          <p:cNvPr id="4105" name="Text Box 480"/>
          <p:cNvSpPr txBox="1">
            <a:spLocks noChangeArrowheads="1"/>
          </p:cNvSpPr>
          <p:nvPr/>
        </p:nvSpPr>
        <p:spPr bwMode="auto">
          <a:xfrm>
            <a:off x="33077150" y="27792276"/>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Acknowledgements</a:t>
            </a:r>
          </a:p>
        </p:txBody>
      </p:sp>
      <p:sp>
        <p:nvSpPr>
          <p:cNvPr id="4106" name="Text Box 481"/>
          <p:cNvSpPr txBox="1">
            <a:spLocks noChangeArrowheads="1"/>
          </p:cNvSpPr>
          <p:nvPr/>
        </p:nvSpPr>
        <p:spPr bwMode="auto">
          <a:xfrm>
            <a:off x="33609237" y="6582680"/>
            <a:ext cx="8873067" cy="10054002"/>
          </a:xfrm>
          <a:prstGeom prst="rect">
            <a:avLst/>
          </a:prstGeom>
          <a:noFill/>
          <a:ln w="9525">
            <a:noFill/>
            <a:miter lim="800000"/>
            <a:headEnd/>
            <a:tailEnd/>
          </a:ln>
        </p:spPr>
        <p:txBody>
          <a:bodyPr lIns="406384" tIns="406384" rIns="406384" bIns="406384">
            <a:spAutoFit/>
          </a:bodyPr>
          <a:lstStyle/>
          <a:p>
            <a:r>
              <a:rPr lang="en-US" sz="2400" dirty="0">
                <a:latin typeface="+mn-lt"/>
              </a:rPr>
              <a:t>Every project will have some issues such as existing tools, lack of communication or issues that the team may have to deal with during the project life cycle . Our team learned that in order to be successful a team has to focus on every detail and they have to focus on the issues to solve and move forward with positivity and learn from past experience. Overall, this project gave us a very good sense of our responsibilities and tasks that we need to complete during a project life cycle. We learned that teamwork and communication and support is the key success to every project . Upon the completion of the project the team fulfilled almost all desired functionalities for the project. This project offered our team an enormous amount of learning curve in new programming skills and extensive research. Throughout this project, we as a team have cherished the ability to work on and design our own project in the hardware front as well as software, taking into account all the software and hardware design principles that we have learned in the duration of our time at SJSU. Combining knowledge from Mobile Application Development and Software and Computer Engineering classes, to incorporating principles from Interaction Design and Operating Systems, this project has enabled us to merge and implement the theories and concepts practiced in classes to produce a real-world product.</a:t>
            </a:r>
          </a:p>
        </p:txBody>
      </p:sp>
      <p:sp>
        <p:nvSpPr>
          <p:cNvPr id="4112" name="Text Box 389"/>
          <p:cNvSpPr txBox="1">
            <a:spLocks noChangeArrowheads="1"/>
          </p:cNvSpPr>
          <p:nvPr/>
        </p:nvSpPr>
        <p:spPr bwMode="auto">
          <a:xfrm>
            <a:off x="1371599" y="16245590"/>
            <a:ext cx="8873067" cy="4514024"/>
          </a:xfrm>
          <a:prstGeom prst="rect">
            <a:avLst/>
          </a:prstGeom>
          <a:noFill/>
          <a:ln w="9525">
            <a:noFill/>
            <a:miter lim="800000"/>
            <a:headEnd/>
            <a:tailEnd/>
          </a:ln>
        </p:spPr>
        <p:txBody>
          <a:bodyPr wrap="square" lIns="406384" tIns="406384" rIns="406384" bIns="406384">
            <a:spAutoFit/>
          </a:bodyPr>
          <a:lstStyle/>
          <a:p>
            <a:pPr defTabSz="3901342"/>
            <a:r>
              <a:rPr lang="en-US" sz="2400" dirty="0"/>
              <a:t>Some construction companies are implementing RFID-embedded tiles for rooftop construction. When these RFID tags are primed with an RF signal at a specific power level and frequency, the moisture level of the tile is returned. Our goal is to create an autonomous robot to navigate the rooftops of commercial and industrial buildings to map its moisture using these RFID tags. An extremely accurate moisture map can be produced and transmitted off-site to maintenance crews to repair damage before it becomes significant. Also, our method doesn’t require any damage to the rooftop, and hardly any interaction from people.</a:t>
            </a:r>
            <a:endParaRPr lang="en-US" sz="2800" b="1" dirty="0"/>
          </a:p>
          <a:p>
            <a:pPr defTabSz="3901342"/>
            <a:endParaRPr lang="en-US" sz="2400" dirty="0">
              <a:solidFill>
                <a:srgbClr val="333333"/>
              </a:solidFill>
              <a:latin typeface="+mn-lt"/>
            </a:endParaRPr>
          </a:p>
        </p:txBody>
      </p:sp>
      <p:sp>
        <p:nvSpPr>
          <p:cNvPr id="4113" name="Text Box 14"/>
          <p:cNvSpPr txBox="1">
            <a:spLocks noChangeArrowheads="1"/>
          </p:cNvSpPr>
          <p:nvPr/>
        </p:nvSpPr>
        <p:spPr bwMode="auto">
          <a:xfrm>
            <a:off x="1371600" y="20955002"/>
            <a:ext cx="8873067" cy="6565804"/>
          </a:xfrm>
          <a:prstGeom prst="rect">
            <a:avLst/>
          </a:prstGeom>
          <a:noFill/>
          <a:ln w="9525">
            <a:noFill/>
            <a:miter lim="800000"/>
            <a:headEnd/>
            <a:tailEnd/>
          </a:ln>
        </p:spPr>
        <p:txBody>
          <a:bodyPr wrap="square" lIns="406384" tIns="406384" rIns="406384" bIns="406384">
            <a:spAutoFit/>
          </a:bodyPr>
          <a:lstStyle/>
          <a:p>
            <a:r>
              <a:rPr lang="en-US" sz="2400" dirty="0">
                <a:latin typeface="+mn-lt"/>
              </a:rPr>
              <a:t>For this project the methodology is split between the hardware and software of the project</a:t>
            </a:r>
          </a:p>
          <a:p>
            <a:pPr marL="548626" indent="-548626" algn="just"/>
            <a:endParaRPr lang="en-US" sz="2987" b="1" dirty="0"/>
          </a:p>
          <a:p>
            <a:pPr marL="548626" indent="-548626" algn="just"/>
            <a:r>
              <a:rPr lang="en-US" sz="2987" b="1" dirty="0"/>
              <a:t>Hardware</a:t>
            </a:r>
          </a:p>
          <a:p>
            <a:pPr defTabSz="3901342"/>
            <a:endParaRPr lang="en-US" sz="2987"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endParaRPr lang="en-US" sz="2133" dirty="0"/>
          </a:p>
          <a:p>
            <a:pPr marL="548626" indent="-548626" algn="just"/>
            <a:endParaRPr lang="en-US" sz="2987" dirty="0"/>
          </a:p>
          <a:p>
            <a:pPr marL="548626" indent="-548626" algn="just"/>
            <a:endParaRPr lang="en-US" sz="2987" dirty="0"/>
          </a:p>
          <a:p>
            <a:pPr marL="548626" indent="-548626"/>
            <a:endParaRPr lang="en-US" sz="2667" b="1" dirty="0"/>
          </a:p>
        </p:txBody>
      </p:sp>
      <p:sp>
        <p:nvSpPr>
          <p:cNvPr id="58" name="Text Box 406"/>
          <p:cNvSpPr txBox="1">
            <a:spLocks noChangeArrowheads="1"/>
          </p:cNvSpPr>
          <p:nvPr/>
        </p:nvSpPr>
        <p:spPr bwMode="auto">
          <a:xfrm>
            <a:off x="12020239" y="6582680"/>
            <a:ext cx="8873067" cy="7838011"/>
          </a:xfrm>
          <a:prstGeom prst="rect">
            <a:avLst/>
          </a:prstGeom>
          <a:noFill/>
          <a:ln w="9525">
            <a:noFill/>
            <a:miter lim="800000"/>
            <a:headEnd/>
            <a:tailEnd/>
          </a:ln>
        </p:spPr>
        <p:txBody>
          <a:bodyPr lIns="406384" tIns="406384" rIns="406384" bIns="406384">
            <a:spAutoFit/>
          </a:bodyPr>
          <a:lstStyle/>
          <a:p>
            <a:pPr indent="-548626">
              <a:defRPr/>
            </a:pPr>
            <a:r>
              <a:rPr lang="en-US" sz="2400" dirty="0">
                <a:latin typeface="+mn-lt"/>
              </a:rPr>
              <a:t>The main control program uses three major control structures. </a:t>
            </a:r>
          </a:p>
          <a:p>
            <a:pPr indent="-548626">
              <a:defRPr/>
            </a:pPr>
            <a:r>
              <a:rPr lang="en-US" sz="2400" dirty="0">
                <a:latin typeface="+mn-lt"/>
              </a:rPr>
              <a:t>The first is responsible for gathering GPS data from the RFID reader by shelling into the onboard Linux operating system and requesting GPS data passing it back to the main program allowing the robot to understand its current position. </a:t>
            </a:r>
          </a:p>
          <a:p>
            <a:pPr indent="-548626">
              <a:defRPr/>
            </a:pPr>
            <a:r>
              <a:rPr lang="en-US" sz="2400" dirty="0">
                <a:latin typeface="+mn-lt"/>
              </a:rPr>
              <a:t>The second is responsible for the motor controls used by the robot for navigation. The main thread is able to call this function which then delegates the request to the individual functions that allow for execution of the requested movement.</a:t>
            </a:r>
          </a:p>
          <a:p>
            <a:pPr indent="-548626">
              <a:defRPr/>
            </a:pPr>
            <a:r>
              <a:rPr lang="en-US" sz="2400" dirty="0">
                <a:latin typeface="+mn-lt"/>
              </a:rPr>
              <a:t>The third is responsible for gathering sensor data from the onboard ultrasound sensors which help the robot detect obstacles and when a wall is approaching.</a:t>
            </a:r>
          </a:p>
          <a:p>
            <a:pPr indent="-548626">
              <a:defRPr/>
            </a:pPr>
            <a:r>
              <a:rPr lang="en-US" sz="2400" dirty="0">
                <a:latin typeface="+mn-lt"/>
              </a:rPr>
              <a:t>Combined these threads are used to first define the outline of a roof then continually drive along the roof until it has been fully searched for wet roofing tiles</a:t>
            </a:r>
          </a:p>
          <a:p>
            <a:pPr indent="-548626">
              <a:defRPr/>
            </a:pPr>
            <a:endParaRPr lang="en-US" sz="2400" dirty="0">
              <a:latin typeface="+mn-lt"/>
            </a:endParaRPr>
          </a:p>
        </p:txBody>
      </p:sp>
      <p:sp>
        <p:nvSpPr>
          <p:cNvPr id="4144" name="Text Box 406"/>
          <p:cNvSpPr txBox="1">
            <a:spLocks noChangeArrowheads="1"/>
          </p:cNvSpPr>
          <p:nvPr/>
        </p:nvSpPr>
        <p:spPr bwMode="auto">
          <a:xfrm>
            <a:off x="22727262" y="18722459"/>
            <a:ext cx="8873067" cy="12639325"/>
          </a:xfrm>
          <a:prstGeom prst="rect">
            <a:avLst/>
          </a:prstGeom>
          <a:noFill/>
          <a:ln w="9525">
            <a:noFill/>
            <a:miter lim="800000"/>
            <a:headEnd/>
            <a:tailEnd/>
          </a:ln>
        </p:spPr>
        <p:txBody>
          <a:bodyPr lIns="406384" tIns="406384" rIns="406384" bIns="406384">
            <a:spAutoFit/>
          </a:bodyPr>
          <a:lstStyle/>
          <a:p>
            <a:pPr>
              <a:defRPr/>
            </a:pPr>
            <a:r>
              <a:rPr lang="en-US" sz="2400" dirty="0">
                <a:latin typeface="+mn-lt"/>
              </a:rPr>
              <a:t>Testing for the hardware portion of this project was very difficult because we were not able to go on to rooftops to test the robot completely, however the team was able to test each individual action that the robot needed to take to complete the task successfully</a:t>
            </a:r>
          </a:p>
          <a:p>
            <a:pPr>
              <a:defRPr/>
            </a:pPr>
            <a:endParaRPr lang="en-US" sz="2400" dirty="0">
              <a:latin typeface="+mn-lt"/>
            </a:endParaRPr>
          </a:p>
          <a:p>
            <a:pPr>
              <a:defRPr/>
            </a:pPr>
            <a:r>
              <a:rPr lang="en-US" sz="2400" dirty="0">
                <a:latin typeface="+mn-lt"/>
              </a:rPr>
              <a:t>For rooftop navigation, we planned to bring the robot to the SJSU parking garage rooftop, and have the robot perform a perimeter sweep of the parking structure to construct a GPS boundary in which the robot will operate inside. After the GPS boundary is set, the robot will begin to navigate the rooftop in a “lawn-mower” path. However,  with the current pandemic we were not allowed to use the SJSU garage for testing so we used the walls and steps to simulate different environments that the robot would have to navigate. The robot was able to successfully perform all the necessary tests needed to scan a roof.</a:t>
            </a:r>
          </a:p>
          <a:p>
            <a:pPr>
              <a:defRPr/>
            </a:pPr>
            <a:endParaRPr lang="en-US" sz="2400" dirty="0">
              <a:latin typeface="+mn-lt"/>
            </a:endParaRPr>
          </a:p>
          <a:p>
            <a:pPr>
              <a:defRPr/>
            </a:pPr>
            <a:r>
              <a:rPr lang="en-US" sz="2400" dirty="0">
                <a:latin typeface="+mn-lt"/>
              </a:rPr>
              <a:t>There were two parts to the software testing. The first was to test the code designed to read RFID tags, which involved using RFID moisture tags and reading them when both dry and wet and ensuring that we the software was able to successfully determine between the two states. The software was able to successfully determine between the two tag states, however do to the nature of the moisture tags a fair amount of post processing was required to produce reliable results. The same testing was done on the terminal program, and yielded the same results. The second part was the mobile apps ability to take in data produced by the reader and display them in a readable and clear manner. Since this was a fairly basic portion of the project the testing was easily passed and.</a:t>
            </a:r>
          </a:p>
        </p:txBody>
      </p:sp>
      <p:sp>
        <p:nvSpPr>
          <p:cNvPr id="4146" name="Text Box 406"/>
          <p:cNvSpPr txBox="1">
            <a:spLocks noChangeArrowheads="1"/>
          </p:cNvSpPr>
          <p:nvPr/>
        </p:nvSpPr>
        <p:spPr bwMode="auto">
          <a:xfrm>
            <a:off x="1131147" y="29279566"/>
            <a:ext cx="8873067" cy="2667365"/>
          </a:xfrm>
          <a:prstGeom prst="rect">
            <a:avLst/>
          </a:prstGeom>
          <a:noFill/>
          <a:ln w="9525">
            <a:noFill/>
            <a:miter lim="800000"/>
            <a:headEnd/>
            <a:tailEnd/>
          </a:ln>
        </p:spPr>
        <p:txBody>
          <a:bodyPr wrap="square" lIns="406384" tIns="406384" rIns="406384" bIns="406384">
            <a:spAutoFit/>
          </a:bodyPr>
          <a:lstStyle/>
          <a:p>
            <a:pPr defTabSz="3901342"/>
            <a:r>
              <a:rPr lang="en-US" sz="2400" dirty="0">
                <a:latin typeface="+mn-lt"/>
              </a:rPr>
              <a:t>For designing and programming the hardware solution the team kept two major design principles in mind. The first is to keep the code as simple as possible, and the second is to allow for delegation of tasks to multiple parts of the project all running in unison using multithreading. </a:t>
            </a:r>
          </a:p>
        </p:txBody>
      </p:sp>
      <p:sp>
        <p:nvSpPr>
          <p:cNvPr id="4149" name="Text Box 388"/>
          <p:cNvSpPr txBox="1">
            <a:spLocks noChangeArrowheads="1"/>
          </p:cNvSpPr>
          <p:nvPr/>
        </p:nvSpPr>
        <p:spPr bwMode="auto">
          <a:xfrm>
            <a:off x="11510433" y="5651887"/>
            <a:ext cx="9965267"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a:solidFill>
                  <a:srgbClr val="F8F8F8"/>
                </a:solidFill>
              </a:rPr>
              <a:t>Methodology</a:t>
            </a:r>
          </a:p>
        </p:txBody>
      </p:sp>
      <p:sp>
        <p:nvSpPr>
          <p:cNvPr id="4152" name="TextBox 80"/>
          <p:cNvSpPr txBox="1">
            <a:spLocks noChangeArrowheads="1"/>
          </p:cNvSpPr>
          <p:nvPr/>
        </p:nvSpPr>
        <p:spPr bwMode="auto">
          <a:xfrm>
            <a:off x="11623630" y="19572505"/>
            <a:ext cx="8873067" cy="1907445"/>
          </a:xfrm>
          <a:prstGeom prst="rect">
            <a:avLst/>
          </a:prstGeom>
          <a:noFill/>
          <a:ln w="9525">
            <a:noFill/>
            <a:miter lim="800000"/>
            <a:headEnd/>
            <a:tailEnd/>
          </a:ln>
        </p:spPr>
        <p:txBody>
          <a:bodyPr>
            <a:spAutoFit/>
          </a:bodyPr>
          <a:lstStyle/>
          <a:p>
            <a:pPr marL="406390" lvl="2" indent="0"/>
            <a:endParaRPr lang="en-US" sz="2400" dirty="0">
              <a:latin typeface="+mn-lt"/>
            </a:endParaRPr>
          </a:p>
          <a:p>
            <a:pPr marL="406390" lvl="2" indent="0"/>
            <a:endParaRPr lang="en-US" sz="2400" dirty="0">
              <a:latin typeface="+mn-lt"/>
            </a:endParaRPr>
          </a:p>
          <a:p>
            <a:pPr marL="406390" lvl="2" indent="0"/>
            <a:r>
              <a:rPr lang="en-US" sz="2400" b="1" dirty="0">
                <a:latin typeface="+mn-lt"/>
              </a:rPr>
              <a:t>Software</a:t>
            </a:r>
          </a:p>
          <a:p>
            <a:pPr marL="406390" lvl="2" indent="0"/>
            <a:endParaRPr lang="en-US" sz="2400" dirty="0">
              <a:latin typeface="+mn-lt"/>
            </a:endParaRPr>
          </a:p>
          <a:p>
            <a:endParaRPr lang="en-US" sz="2195" dirty="0"/>
          </a:p>
        </p:txBody>
      </p:sp>
      <p:sp>
        <p:nvSpPr>
          <p:cNvPr id="41" name="Rectangle 5">
            <a:extLst>
              <a:ext uri="{FF2B5EF4-FFF2-40B4-BE49-F238E27FC236}">
                <a16:creationId xmlns:a16="http://schemas.microsoft.com/office/drawing/2014/main" id="{F56A1035-C9F5-46F0-9CC8-0D25F3E4F994}"/>
              </a:ext>
            </a:extLst>
          </p:cNvPr>
          <p:cNvSpPr>
            <a:spLocks noChangeArrowheads="1"/>
          </p:cNvSpPr>
          <p:nvPr/>
        </p:nvSpPr>
        <p:spPr bwMode="auto">
          <a:xfrm>
            <a:off x="294218" y="674666"/>
            <a:ext cx="10373784" cy="1854673"/>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5760" b="1" dirty="0">
                <a:solidFill>
                  <a:srgbClr val="FFFFFF"/>
                </a:solidFill>
                <a:latin typeface="Arial" charset="0"/>
              </a:rPr>
              <a:t>Computer Engineering Department</a:t>
            </a:r>
          </a:p>
        </p:txBody>
      </p:sp>
      <p:sp>
        <p:nvSpPr>
          <p:cNvPr id="42" name="Rectangle 5">
            <a:extLst>
              <a:ext uri="{FF2B5EF4-FFF2-40B4-BE49-F238E27FC236}">
                <a16:creationId xmlns:a16="http://schemas.microsoft.com/office/drawing/2014/main" id="{9C5BEEB0-D285-4D5A-A4AA-D79BCD39FAD9}"/>
              </a:ext>
            </a:extLst>
          </p:cNvPr>
          <p:cNvSpPr>
            <a:spLocks noChangeArrowheads="1"/>
          </p:cNvSpPr>
          <p:nvPr/>
        </p:nvSpPr>
        <p:spPr bwMode="auto">
          <a:xfrm>
            <a:off x="33077151" y="674666"/>
            <a:ext cx="9975849" cy="2851869"/>
          </a:xfrm>
          <a:prstGeom prst="rect">
            <a:avLst/>
          </a:prstGeom>
          <a:noFill/>
          <a:ln w="9525">
            <a:noFill/>
            <a:miter lim="800000"/>
            <a:headEnd/>
            <a:tailEnd/>
          </a:ln>
        </p:spPr>
        <p:txBody>
          <a:bodyPr wrap="square" lIns="81101" tIns="40544" rIns="81101" bIns="40544">
            <a:spAutoFit/>
          </a:bodyPr>
          <a:lstStyle/>
          <a:p>
            <a:pPr eaLnBrk="0" hangingPunct="0">
              <a:defRPr/>
            </a:pPr>
            <a:r>
              <a:rPr lang="en-US" sz="3600" b="1" dirty="0">
                <a:solidFill>
                  <a:srgbClr val="FFFFFF"/>
                </a:solidFill>
                <a:latin typeface="Arial" charset="0"/>
              </a:rPr>
              <a:t>Major, William (BS Computer Engineering) Tran, Austin (BS Computer Engineering)</a:t>
            </a:r>
          </a:p>
          <a:p>
            <a:pPr eaLnBrk="0" hangingPunct="0">
              <a:defRPr/>
            </a:pPr>
            <a:r>
              <a:rPr lang="en-US" sz="3600" b="1" dirty="0">
                <a:solidFill>
                  <a:srgbClr val="FFFFFF"/>
                </a:solidFill>
                <a:latin typeface="Arial" charset="0"/>
              </a:rPr>
              <a:t>Nazarian, Seri (BS Software Engineering)</a:t>
            </a:r>
          </a:p>
          <a:p>
            <a:pPr eaLnBrk="0" hangingPunct="0">
              <a:defRPr/>
            </a:pPr>
            <a:r>
              <a:rPr lang="en-US" sz="3600" b="1" dirty="0">
                <a:solidFill>
                  <a:srgbClr val="FFFFFF"/>
                </a:solidFill>
                <a:latin typeface="Arial" charset="0"/>
              </a:rPr>
              <a:t>Patel, Rohan (BS Software Engineering)</a:t>
            </a:r>
          </a:p>
          <a:p>
            <a:pPr algn="ctr" eaLnBrk="0" hangingPunct="0">
              <a:defRPr/>
            </a:pPr>
            <a:endParaRPr lang="en-US" sz="3600" b="1" dirty="0">
              <a:solidFill>
                <a:srgbClr val="FFFFFF"/>
              </a:solidFill>
              <a:latin typeface="Arial" charset="0"/>
            </a:endParaRPr>
          </a:p>
        </p:txBody>
      </p:sp>
      <p:pic>
        <p:nvPicPr>
          <p:cNvPr id="3" name="Picture 2">
            <a:extLst>
              <a:ext uri="{FF2B5EF4-FFF2-40B4-BE49-F238E27FC236}">
                <a16:creationId xmlns:a16="http://schemas.microsoft.com/office/drawing/2014/main" id="{F008A9A6-F399-4E42-B139-BC2EA1D4D6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7040" y="2608906"/>
            <a:ext cx="1600351" cy="1965631"/>
          </a:xfrm>
          <a:prstGeom prst="rect">
            <a:avLst/>
          </a:prstGeom>
        </p:spPr>
      </p:pic>
      <p:pic>
        <p:nvPicPr>
          <p:cNvPr id="8" name="Picture 7" descr="A picture containing white, sitting, table, green&#10;&#10;Description automatically generated">
            <a:extLst>
              <a:ext uri="{FF2B5EF4-FFF2-40B4-BE49-F238E27FC236}">
                <a16:creationId xmlns:a16="http://schemas.microsoft.com/office/drawing/2014/main" id="{E82C7873-1F6B-46CF-BEFC-C92CB162E2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5084" y="23426629"/>
            <a:ext cx="4242547" cy="2419578"/>
          </a:xfrm>
          <a:prstGeom prst="rect">
            <a:avLst/>
          </a:prstGeom>
        </p:spPr>
      </p:pic>
      <p:pic>
        <p:nvPicPr>
          <p:cNvPr id="10" name="Picture 9" descr="A close up of a bottle&#10;&#10;Description automatically generated">
            <a:extLst>
              <a:ext uri="{FF2B5EF4-FFF2-40B4-BE49-F238E27FC236}">
                <a16:creationId xmlns:a16="http://schemas.microsoft.com/office/drawing/2014/main" id="{9A65791C-0A0B-4689-9BC3-D40CDBDBB6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25223" y="23334202"/>
            <a:ext cx="2487988" cy="2487988"/>
          </a:xfrm>
          <a:prstGeom prst="rect">
            <a:avLst/>
          </a:prstGeom>
        </p:spPr>
      </p:pic>
      <p:pic>
        <p:nvPicPr>
          <p:cNvPr id="12" name="Picture 11" descr="A circuit board&#10;&#10;Description automatically generated">
            <a:extLst>
              <a:ext uri="{FF2B5EF4-FFF2-40B4-BE49-F238E27FC236}">
                <a16:creationId xmlns:a16="http://schemas.microsoft.com/office/drawing/2014/main" id="{24FDD6E7-ECFD-4EE6-9C77-F8D9BD7C5B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4069" y="26395178"/>
            <a:ext cx="2642031" cy="2642031"/>
          </a:xfrm>
          <a:prstGeom prst="rect">
            <a:avLst/>
          </a:prstGeom>
        </p:spPr>
      </p:pic>
      <p:pic>
        <p:nvPicPr>
          <p:cNvPr id="14" name="Picture 13" descr="A circuit board&#10;&#10;Description automatically generated">
            <a:extLst>
              <a:ext uri="{FF2B5EF4-FFF2-40B4-BE49-F238E27FC236}">
                <a16:creationId xmlns:a16="http://schemas.microsoft.com/office/drawing/2014/main" id="{C5230EC0-19B2-41F5-93F7-0414F31781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87842" y="26453547"/>
            <a:ext cx="3381375" cy="2743200"/>
          </a:xfrm>
          <a:prstGeom prst="rect">
            <a:avLst/>
          </a:prstGeom>
        </p:spPr>
      </p:pic>
      <p:pic>
        <p:nvPicPr>
          <p:cNvPr id="16" name="Picture 15" descr="A close up of a hanger&#10;&#10;Description automatically generated">
            <a:extLst>
              <a:ext uri="{FF2B5EF4-FFF2-40B4-BE49-F238E27FC236}">
                <a16:creationId xmlns:a16="http://schemas.microsoft.com/office/drawing/2014/main" id="{1DD8550F-4B00-4A8A-A1C8-B0DB8A50A66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317673" y="13987886"/>
            <a:ext cx="7484979" cy="5448250"/>
          </a:xfrm>
          <a:prstGeom prst="rect">
            <a:avLst/>
          </a:prstGeom>
        </p:spPr>
      </p:pic>
      <p:pic>
        <p:nvPicPr>
          <p:cNvPr id="20" name="Picture 19" descr="A screenshot of a cell phone&#10;&#10;Description automatically generated">
            <a:extLst>
              <a:ext uri="{FF2B5EF4-FFF2-40B4-BE49-F238E27FC236}">
                <a16:creationId xmlns:a16="http://schemas.microsoft.com/office/drawing/2014/main" id="{4BF0686E-9326-442E-9DF7-34161E3E091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874083" y="20960386"/>
            <a:ext cx="9211961" cy="5649113"/>
          </a:xfrm>
          <a:prstGeom prst="rect">
            <a:avLst/>
          </a:prstGeom>
        </p:spPr>
      </p:pic>
      <p:sp>
        <p:nvSpPr>
          <p:cNvPr id="59" name="Text Box 406">
            <a:extLst>
              <a:ext uri="{FF2B5EF4-FFF2-40B4-BE49-F238E27FC236}">
                <a16:creationId xmlns:a16="http://schemas.microsoft.com/office/drawing/2014/main" id="{386CE4AA-AE52-4027-9089-B0C9F9072CCA}"/>
              </a:ext>
            </a:extLst>
          </p:cNvPr>
          <p:cNvSpPr txBox="1">
            <a:spLocks noChangeArrowheads="1"/>
          </p:cNvSpPr>
          <p:nvPr/>
        </p:nvSpPr>
        <p:spPr bwMode="auto">
          <a:xfrm>
            <a:off x="11874083" y="26841362"/>
            <a:ext cx="8873067" cy="4973702"/>
          </a:xfrm>
          <a:prstGeom prst="rect">
            <a:avLst/>
          </a:prstGeom>
          <a:noFill/>
          <a:ln w="9525">
            <a:noFill/>
            <a:miter lim="800000"/>
            <a:headEnd/>
            <a:tailEnd/>
          </a:ln>
        </p:spPr>
        <p:txBody>
          <a:bodyPr lIns="406384" tIns="406384" rIns="406384" bIns="406384">
            <a:spAutoFit/>
          </a:bodyPr>
          <a:lstStyle/>
          <a:p>
            <a:pPr>
              <a:defRPr/>
            </a:pPr>
            <a:r>
              <a:rPr lang="en-US" sz="2400" dirty="0">
                <a:latin typeface="+mn-lt"/>
              </a:rPr>
              <a:t>For designing and programming the software solution the team had the same design principles as hardware with more emphasis on task delegation.</a:t>
            </a:r>
          </a:p>
          <a:p>
            <a:pPr>
              <a:defRPr/>
            </a:pPr>
            <a:endParaRPr lang="en-US" sz="2400" dirty="0">
              <a:latin typeface="+mn-lt"/>
            </a:endParaRPr>
          </a:p>
          <a:p>
            <a:pPr>
              <a:defRPr/>
            </a:pPr>
            <a:r>
              <a:rPr lang="en-US" sz="2400" dirty="0">
                <a:latin typeface="+mn-lt"/>
              </a:rPr>
              <a:t>There were two major portions of the software solution. The first is communication between the program and the reader which uses TCP communication to send specific commands to the RFID reader which can then be processed by the software producing data that can then be displayed </a:t>
            </a:r>
          </a:p>
          <a:p>
            <a:pPr>
              <a:defRPr/>
            </a:pPr>
            <a:r>
              <a:rPr lang="en-US" sz="2987" dirty="0"/>
              <a:t> </a:t>
            </a:r>
          </a:p>
        </p:txBody>
      </p:sp>
      <p:pic>
        <p:nvPicPr>
          <p:cNvPr id="22" name="Picture 21" descr="A picture containing indoor, table, sitting, small&#10;&#10;Description automatically generated">
            <a:extLst>
              <a:ext uri="{FF2B5EF4-FFF2-40B4-BE49-F238E27FC236}">
                <a16:creationId xmlns:a16="http://schemas.microsoft.com/office/drawing/2014/main" id="{6EFE416E-06AA-4EE5-961F-64C8FCD3E629}"/>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8417" r="27564"/>
          <a:stretch/>
        </p:blipFill>
        <p:spPr>
          <a:xfrm rot="5400000">
            <a:off x="3637481" y="12239003"/>
            <a:ext cx="4442343" cy="4212461"/>
          </a:xfrm>
          <a:prstGeom prst="rect">
            <a:avLst/>
          </a:prstGeom>
        </p:spPr>
      </p:pic>
      <p:sp>
        <p:nvSpPr>
          <p:cNvPr id="61" name="Text Box 406">
            <a:extLst>
              <a:ext uri="{FF2B5EF4-FFF2-40B4-BE49-F238E27FC236}">
                <a16:creationId xmlns:a16="http://schemas.microsoft.com/office/drawing/2014/main" id="{2A9BA811-B5F6-4D45-AB1D-59839500D363}"/>
              </a:ext>
            </a:extLst>
          </p:cNvPr>
          <p:cNvSpPr txBox="1">
            <a:spLocks noChangeArrowheads="1"/>
          </p:cNvSpPr>
          <p:nvPr/>
        </p:nvSpPr>
        <p:spPr bwMode="auto">
          <a:xfrm>
            <a:off x="22548695" y="5836527"/>
            <a:ext cx="8873067" cy="5252688"/>
          </a:xfrm>
          <a:prstGeom prst="rect">
            <a:avLst/>
          </a:prstGeom>
          <a:noFill/>
          <a:ln w="9525">
            <a:noFill/>
            <a:miter lim="800000"/>
            <a:headEnd/>
            <a:tailEnd/>
          </a:ln>
        </p:spPr>
        <p:txBody>
          <a:bodyPr wrap="square" lIns="406384" tIns="406384" rIns="406384" bIns="406384">
            <a:spAutoFit/>
          </a:bodyPr>
          <a:lstStyle/>
          <a:p>
            <a:pPr defTabSz="3901342"/>
            <a:r>
              <a:rPr lang="en-US" sz="2400" dirty="0">
                <a:latin typeface="+mn-lt"/>
              </a:rPr>
              <a:t>The second major portion was displaying tag data. This was handled in two different ways the GUI used an internally generated dictionary that stores all tag information and populates a table within the program. The mobile application is handed a CSV file upon completion of reading which it then parses and places within a table.</a:t>
            </a:r>
          </a:p>
          <a:p>
            <a:pPr defTabSz="3901342"/>
            <a:endParaRPr lang="en-US" sz="2400" dirty="0">
              <a:latin typeface="+mn-lt"/>
            </a:endParaRPr>
          </a:p>
          <a:p>
            <a:pPr defTabSz="3901342"/>
            <a:r>
              <a:rPr lang="en-US" sz="2400" dirty="0">
                <a:latin typeface="+mn-lt"/>
              </a:rPr>
              <a:t>In order to also make this program more usable in professional applications a terminal program was designed that would perform the same actions as the GUI but simply output a CSV file that can be parsed and displayed by multiple applications</a:t>
            </a:r>
          </a:p>
        </p:txBody>
      </p:sp>
      <p:pic>
        <p:nvPicPr>
          <p:cNvPr id="30" name="Picture 29" descr="A close up of a device&#10;&#10;Description automatically generated">
            <a:extLst>
              <a:ext uri="{FF2B5EF4-FFF2-40B4-BE49-F238E27FC236}">
                <a16:creationId xmlns:a16="http://schemas.microsoft.com/office/drawing/2014/main" id="{AA1795CA-540E-458D-A1D8-3DD6FF9F81A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50959" y="26645335"/>
            <a:ext cx="2112370" cy="2112370"/>
          </a:xfrm>
          <a:prstGeom prst="rect">
            <a:avLst/>
          </a:prstGeom>
        </p:spPr>
      </p:pic>
      <p:graphicFrame>
        <p:nvGraphicFramePr>
          <p:cNvPr id="70" name="Group 513">
            <a:extLst>
              <a:ext uri="{FF2B5EF4-FFF2-40B4-BE49-F238E27FC236}">
                <a16:creationId xmlns:a16="http://schemas.microsoft.com/office/drawing/2014/main" id="{6A16E537-CA5D-4316-950F-B010E2242CBE}"/>
              </a:ext>
            </a:extLst>
          </p:cNvPr>
          <p:cNvGraphicFramePr>
            <a:graphicFrameLocks noGrp="1"/>
          </p:cNvGraphicFramePr>
          <p:nvPr>
            <p:extLst>
              <p:ext uri="{D42A27DB-BD31-4B8C-83A1-F6EECF244321}">
                <p14:modId xmlns:p14="http://schemas.microsoft.com/office/powerpoint/2010/main" val="888126641"/>
              </p:ext>
            </p:extLst>
          </p:nvPr>
        </p:nvGraphicFramePr>
        <p:xfrm>
          <a:off x="33280616" y="17261267"/>
          <a:ext cx="8873066" cy="10743383"/>
        </p:xfrm>
        <a:graphic>
          <a:graphicData uri="http://schemas.openxmlformats.org/drawingml/2006/table">
            <a:tbl>
              <a:tblPr/>
              <a:tblGrid>
                <a:gridCol w="4480277">
                  <a:extLst>
                    <a:ext uri="{9D8B030D-6E8A-4147-A177-3AD203B41FA5}">
                      <a16:colId xmlns:a16="http://schemas.microsoft.com/office/drawing/2014/main" val="20000"/>
                    </a:ext>
                  </a:extLst>
                </a:gridCol>
                <a:gridCol w="4392789">
                  <a:extLst>
                    <a:ext uri="{9D8B030D-6E8A-4147-A177-3AD203B41FA5}">
                      <a16:colId xmlns:a16="http://schemas.microsoft.com/office/drawing/2014/main" val="20001"/>
                    </a:ext>
                  </a:extLst>
                </a:gridCol>
              </a:tblGrid>
              <a:tr h="3616960">
                <a:tc gridSpan="2">
                  <a:txBody>
                    <a:bodyPr/>
                    <a:lstStyle/>
                    <a:p>
                      <a:pPr>
                        <a:defRPr/>
                      </a:pPr>
                      <a:r>
                        <a:rPr lang="en-US" sz="2400" dirty="0"/>
                        <a:t>Artificial Intelligence for Engineering Design, Analysis and Manufacturing (2016), 30,</a:t>
                      </a:r>
                    </a:p>
                    <a:p>
                      <a:pPr>
                        <a:defRPr/>
                      </a:pPr>
                      <a:r>
                        <a:rPr lang="en-US" sz="2400" dirty="0"/>
                        <a:t>214–216.</a:t>
                      </a:r>
                    </a:p>
                    <a:p>
                      <a:pPr>
                        <a:defRPr/>
                      </a:pPr>
                      <a:endParaRPr lang="en-US" sz="2400" dirty="0"/>
                    </a:p>
                    <a:p>
                      <a:pPr>
                        <a:defRPr/>
                      </a:pPr>
                      <a:r>
                        <a:rPr lang="en-US" sz="2400" dirty="0"/>
                        <a:t>AKAO, Y. Quality Function Deployment: Integrating Customer Requirements into</a:t>
                      </a:r>
                    </a:p>
                    <a:p>
                      <a:pPr>
                        <a:defRPr/>
                      </a:pPr>
                      <a:r>
                        <a:rPr lang="en-US" sz="2400" dirty="0"/>
                        <a:t>Product Design. Productivity Press, Cambridge, 1990.</a:t>
                      </a:r>
                    </a:p>
                    <a:p>
                      <a:pPr>
                        <a:defRPr/>
                      </a:pPr>
                      <a:endParaRPr lang="en-US" sz="2400" dirty="0"/>
                    </a:p>
                    <a:p>
                      <a:pPr>
                        <a:defRPr/>
                      </a:pPr>
                      <a:r>
                        <a:rPr lang="en-US" sz="2400" dirty="0"/>
                        <a:t>ALGER, J., AND HAYS, C. Creative Synthesis in Design. Prentice Hall, Englewood</a:t>
                      </a:r>
                    </a:p>
                    <a:p>
                      <a:pPr>
                        <a:defRPr/>
                      </a:pPr>
                      <a:r>
                        <a:rPr lang="en-US" sz="2400" dirty="0"/>
                        <a:t>Cliffs, 1964.</a:t>
                      </a:r>
                    </a:p>
                    <a:p>
                      <a:pPr>
                        <a:defRPr/>
                      </a:pPr>
                      <a:endParaRPr lang="en-US" sz="2400" dirty="0"/>
                    </a:p>
                    <a:p>
                      <a:pPr>
                        <a:defRPr/>
                      </a:pPr>
                      <a:r>
                        <a:rPr lang="en-US" sz="2400" dirty="0"/>
                        <a:t>BIEGEL, P., AND PECHT, M. Design trade-offs made easy. Concurrent Engineering 1,</a:t>
                      </a:r>
                    </a:p>
                    <a:p>
                      <a:pPr>
                        <a:defRPr/>
                      </a:pPr>
                      <a:r>
                        <a:rPr lang="en-US" sz="2400" dirty="0"/>
                        <a:t>3 (May/June 1991), 29–40</a:t>
                      </a:r>
                    </a:p>
                    <a:p>
                      <a:pPr>
                        <a:defRPr/>
                      </a:pPr>
                      <a:endParaRPr lang="en-US" sz="2400" dirty="0"/>
                    </a:p>
                    <a:p>
                      <a:pPr>
                        <a:defRPr/>
                      </a:pPr>
                      <a:r>
                        <a:rPr lang="en-US" sz="2400" dirty="0"/>
                        <a:t>COLTON, J., AND DESCANIO, J. An integrated, intelligent design environment.</a:t>
                      </a:r>
                    </a:p>
                    <a:p>
                      <a:pPr>
                        <a:defRPr/>
                      </a:pPr>
                      <a:r>
                        <a:rPr lang="en-US" sz="2400" dirty="0"/>
                        <a:t>Engineering with Computers 7 (1991), 11–22.</a:t>
                      </a:r>
                    </a:p>
                    <a:p>
                      <a:pPr>
                        <a:defRPr/>
                      </a:pPr>
                      <a:r>
                        <a:rPr lang="en-US" sz="2400" dirty="0"/>
                        <a:t>IEEE Standard for System, Software, and Hardware Verification and Validation," in</a:t>
                      </a:r>
                    </a:p>
                    <a:p>
                      <a:pPr>
                        <a:defRPr/>
                      </a:pPr>
                      <a:endParaRPr lang="en-US" sz="2400" dirty="0"/>
                    </a:p>
                    <a:p>
                      <a:pPr>
                        <a:defRPr/>
                      </a:pPr>
                      <a:r>
                        <a:rPr lang="en-US" sz="2400" dirty="0"/>
                        <a:t>IEEE Std 1012-2016 (Revision of IEEE Std 1012-2012/ Incorporates IEEE Std</a:t>
                      </a:r>
                    </a:p>
                    <a:p>
                      <a:pPr>
                        <a:defRPr/>
                      </a:pPr>
                      <a:r>
                        <a:rPr lang="en-US" sz="2400" dirty="0"/>
                        <a:t>1012-2016/Cor1-2017) , vol., no., pp.1-260, 29 Sept. 2017</a:t>
                      </a:r>
                    </a:p>
                  </a:txBody>
                  <a:tcPr marL="406400" marR="243840" marT="243840" marB="243840" horzOverflow="overflow">
                    <a:lnL cap="flat">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1111703">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cap="flat">
                      <a:noFill/>
                    </a:lnL>
                    <a:lnR>
                      <a:noFill/>
                    </a:lnR>
                    <a:lnT>
                      <a:noFill/>
                    </a:lnT>
                    <a:lnB cap="flat">
                      <a:noFill/>
                    </a:lnB>
                    <a:lnTlToBr>
                      <a:noFill/>
                    </a:lnTlToBr>
                    <a:lnBlToTr>
                      <a:noFill/>
                    </a:lnBlToTr>
                    <a:noFill/>
                  </a:tcPr>
                </a:tc>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1" name="Text Box 406">
            <a:extLst>
              <a:ext uri="{FF2B5EF4-FFF2-40B4-BE49-F238E27FC236}">
                <a16:creationId xmlns:a16="http://schemas.microsoft.com/office/drawing/2014/main" id="{1CE571A9-5EC7-4C43-B818-D73B1DF3B156}"/>
              </a:ext>
            </a:extLst>
          </p:cNvPr>
          <p:cNvSpPr txBox="1">
            <a:spLocks noChangeArrowheads="1"/>
          </p:cNvSpPr>
          <p:nvPr/>
        </p:nvSpPr>
        <p:spPr bwMode="auto">
          <a:xfrm>
            <a:off x="33280616" y="29133461"/>
            <a:ext cx="9530308" cy="1928701"/>
          </a:xfrm>
          <a:prstGeom prst="rect">
            <a:avLst/>
          </a:prstGeom>
          <a:noFill/>
          <a:ln w="9525">
            <a:noFill/>
            <a:miter lim="800000"/>
            <a:headEnd/>
            <a:tailEnd/>
          </a:ln>
        </p:spPr>
        <p:txBody>
          <a:bodyPr wrap="square" lIns="406384" tIns="406384" rIns="406384" bIns="406384">
            <a:spAutoFit/>
          </a:bodyPr>
          <a:lstStyle/>
          <a:p>
            <a:pPr>
              <a:defRPr/>
            </a:pPr>
            <a:r>
              <a:rPr lang="en-US" sz="2400" dirty="0">
                <a:latin typeface="+mn-lt"/>
              </a:rPr>
              <a:t>Our Group would like to acknowledge SensThys for providing all of the RFID equipment used in this project on loan free of charge</a:t>
            </a:r>
          </a:p>
        </p:txBody>
      </p:sp>
      <p:pic>
        <p:nvPicPr>
          <p:cNvPr id="32" name="Picture 31" descr="A screenshot of a cell phone&#10;&#10;Description automatically generated">
            <a:extLst>
              <a:ext uri="{FF2B5EF4-FFF2-40B4-BE49-F238E27FC236}">
                <a16:creationId xmlns:a16="http://schemas.microsoft.com/office/drawing/2014/main" id="{4576C90A-71DF-4628-9CD6-1BDAE7B442B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5876596" y="11555045"/>
            <a:ext cx="2574397" cy="5434838"/>
          </a:xfrm>
          <a:prstGeom prst="rect">
            <a:avLst/>
          </a:prstGeom>
          <a:ln>
            <a:noFill/>
          </a:ln>
          <a:effectLst>
            <a:outerShdw blurRad="292100" dist="139700" dir="2700000" algn="tl" rotWithShape="0">
              <a:srgbClr val="333333">
                <a:alpha val="65000"/>
              </a:srgbClr>
            </a:outerShdw>
          </a:effectLst>
        </p:spPr>
      </p:pic>
      <p:pic>
        <p:nvPicPr>
          <p:cNvPr id="34" name="Picture 33" descr="A picture containing drawing&#10;&#10;Description automatically generated">
            <a:extLst>
              <a:ext uri="{FF2B5EF4-FFF2-40B4-BE49-F238E27FC236}">
                <a16:creationId xmlns:a16="http://schemas.microsoft.com/office/drawing/2014/main" id="{5423C9A4-CE1F-42E1-BABC-081F4D8D969A}"/>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2902214" y="11555045"/>
            <a:ext cx="2574397" cy="5434838"/>
          </a:xfrm>
          <a:prstGeom prst="rect">
            <a:avLst/>
          </a:prstGeom>
          <a:ln>
            <a:noFill/>
          </a:ln>
          <a:effectLst>
            <a:outerShdw blurRad="292100" dist="139700" dir="2700000" algn="tl" rotWithShape="0">
              <a:srgbClr val="333333">
                <a:alpha val="65000"/>
              </a:srgbClr>
            </a:outerShdw>
          </a:effectLst>
        </p:spPr>
      </p:pic>
      <p:pic>
        <p:nvPicPr>
          <p:cNvPr id="36" name="Picture 35" descr="A screenshot of a cell phone&#10;&#10;Description automatically generated">
            <a:extLst>
              <a:ext uri="{FF2B5EF4-FFF2-40B4-BE49-F238E27FC236}">
                <a16:creationId xmlns:a16="http://schemas.microsoft.com/office/drawing/2014/main" id="{A0A56F32-07EB-4A76-9942-C1AD5926F3B1}"/>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8850978" y="11541633"/>
            <a:ext cx="2580750" cy="544825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579</TotalTime>
  <Words>1427</Words>
  <Application>Microsoft Office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Arial Black</vt:lpstr>
      <vt:lpstr>Arial Narrow</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Will Major</cp:lastModifiedBy>
  <cp:revision>264</cp:revision>
  <dcterms:created xsi:type="dcterms:W3CDTF">2005-05-18T01:24:28Z</dcterms:created>
  <dcterms:modified xsi:type="dcterms:W3CDTF">2020-05-06T06:03:50Z</dcterms:modified>
  <cp:category>Powerpoint poster templates</cp:category>
</cp:coreProperties>
</file>